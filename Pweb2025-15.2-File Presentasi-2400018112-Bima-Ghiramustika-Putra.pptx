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pen Sauce Heavy" charset="1" panose="00000A00000000000000"/>
      <p:regular r:id="rId23"/>
    </p:embeddedFont>
    <p:embeddedFont>
      <p:font typeface="Open Sauce" charset="1" panose="00000500000000000000"/>
      <p:regular r:id="rId24"/>
    </p:embeddedFont>
    <p:embeddedFont>
      <p:font typeface="Montserrat Ultra-Bold" charset="1" panose="00000900000000000000"/>
      <p:regular r:id="rId25"/>
    </p:embeddedFont>
    <p:embeddedFont>
      <p:font typeface="Montserrat" charset="1" panose="00000500000000000000"/>
      <p:regular r:id="rId26"/>
    </p:embeddedFont>
    <p:embeddedFont>
      <p:font typeface="Montserrat Bold" charset="1" panose="00000800000000000000"/>
      <p:regular r:id="rId27"/>
    </p:embeddedFont>
    <p:embeddedFont>
      <p:font typeface="Open Sauce Light" charset="1" panose="00000400000000000000"/>
      <p:regular r:id="rId28"/>
    </p:embeddedFont>
    <p:embeddedFont>
      <p:font typeface="Open Sauce Bold" charset="1" panose="000008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png" Type="http://schemas.openxmlformats.org/officeDocument/2006/relationships/image"/><Relationship Id="rId5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040681" y="-1805781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94601" y="3080523"/>
            <a:ext cx="12498797" cy="2062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33"/>
              </a:lnSpc>
            </a:pPr>
            <a:r>
              <a:rPr lang="en-US" b="true" sz="5880" spc="13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TUGAS PROJEK</a:t>
            </a:r>
          </a:p>
          <a:p>
            <a:pPr algn="ctr" marL="0" indent="0" lvl="0">
              <a:lnSpc>
                <a:spcPts val="8233"/>
              </a:lnSpc>
              <a:spcBef>
                <a:spcPct val="0"/>
              </a:spcBef>
            </a:pPr>
            <a:r>
              <a:rPr lang="en-US" b="true" sz="5880" spc="13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PEMROGRAMAN WEB PROFIL</a:t>
            </a:r>
          </a:p>
        </p:txBody>
      </p:sp>
      <p:sp>
        <p:nvSpPr>
          <p:cNvPr name="AutoShape 14" id="14"/>
          <p:cNvSpPr/>
          <p:nvPr/>
        </p:nvSpPr>
        <p:spPr>
          <a:xfrm>
            <a:off x="-1662139" y="2153651"/>
            <a:ext cx="64922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4954061" y="8017217"/>
            <a:ext cx="6492240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5183220" y="5415833"/>
            <a:ext cx="7921560" cy="1740036"/>
            <a:chOff x="0" y="0"/>
            <a:chExt cx="10562080" cy="232004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3663113" cy="2327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DISUSUN OLEH</a:t>
              </a:r>
            </a:p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NIM</a:t>
              </a:r>
            </a:p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KELAS </a:t>
              </a:r>
            </a:p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MATA KULIAH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918015" y="-7329"/>
              <a:ext cx="6644065" cy="2327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BIMA GHIRAMUSTIKA PUTRA</a:t>
              </a:r>
            </a:p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2400018112 </a:t>
              </a:r>
            </a:p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</a:t>
              </a:r>
            </a:p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PEMROGRAMAN WEB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78688" y="-47625"/>
              <a:ext cx="233310" cy="2327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</a:p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</a:p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</a:p>
            <a:p>
              <a:pPr algn="l">
                <a:lnSpc>
                  <a:spcPts val="3516"/>
                </a:lnSpc>
              </a:pPr>
              <a:r>
                <a:rPr lang="en-US" sz="2511" spc="57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0951" y="2579522"/>
            <a:ext cx="6218014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Tujuan Proyek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5819" y="4118472"/>
            <a:ext cx="9270207" cy="311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2595" indent="-326297" lvl="1">
              <a:lnSpc>
                <a:spcPts val="4231"/>
              </a:lnSpc>
              <a:buFont typeface="Arial"/>
              <a:buChar char="•"/>
            </a:pPr>
            <a:r>
              <a:rPr lang="en-US" sz="3022" spc="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Menyusun website portofolio berbasis login</a:t>
            </a:r>
          </a:p>
          <a:p>
            <a:pPr algn="just" marL="652595" indent="-326297" lvl="1">
              <a:lnSpc>
                <a:spcPts val="4231"/>
              </a:lnSpc>
              <a:buFont typeface="Arial"/>
              <a:buChar char="•"/>
            </a:pPr>
            <a:r>
              <a:rPr lang="en-US" sz="3022" spc="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Menampilkan data diri mahasiswa dan riwayat pendidikan</a:t>
            </a:r>
          </a:p>
          <a:p>
            <a:pPr algn="just" marL="652595" indent="-326297" lvl="1">
              <a:lnSpc>
                <a:spcPts val="4231"/>
              </a:lnSpc>
              <a:buFont typeface="Arial"/>
              <a:buChar char="•"/>
            </a:pPr>
            <a:r>
              <a:rPr lang="en-US" sz="3022" spc="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Menyediakan fitur kirim pesan</a:t>
            </a:r>
          </a:p>
          <a:p>
            <a:pPr algn="just" marL="652595" indent="-326297" lvl="1">
              <a:lnSpc>
                <a:spcPts val="4231"/>
              </a:lnSpc>
              <a:buFont typeface="Arial"/>
              <a:buChar char="•"/>
            </a:pPr>
            <a:r>
              <a:rPr lang="en-US" sz="3022" spc="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Dibuat dengan HTML, CSS, JS, PHP</a:t>
            </a:r>
          </a:p>
          <a:p>
            <a:pPr algn="just">
              <a:lnSpc>
                <a:spcPts val="4231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730951" y="8558410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773486" y="2147144"/>
            <a:ext cx="7950746" cy="7111156"/>
            <a:chOff x="0" y="0"/>
            <a:chExt cx="1231779" cy="11017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1779" cy="1101704"/>
            </a:xfrm>
            <a:custGeom>
              <a:avLst/>
              <a:gdLst/>
              <a:ahLst/>
              <a:cxnLst/>
              <a:rect r="r" b="b" t="t" l="l"/>
              <a:pathLst>
                <a:path h="1101704" w="1231779">
                  <a:moveTo>
                    <a:pt x="17527" y="0"/>
                  </a:moveTo>
                  <a:lnTo>
                    <a:pt x="1214251" y="0"/>
                  </a:lnTo>
                  <a:cubicBezTo>
                    <a:pt x="1223931" y="0"/>
                    <a:pt x="1231779" y="7847"/>
                    <a:pt x="1231779" y="17527"/>
                  </a:cubicBezTo>
                  <a:lnTo>
                    <a:pt x="1231779" y="1084177"/>
                  </a:lnTo>
                  <a:cubicBezTo>
                    <a:pt x="1231779" y="1093857"/>
                    <a:pt x="1223931" y="1101704"/>
                    <a:pt x="1214251" y="1101704"/>
                  </a:cubicBezTo>
                  <a:lnTo>
                    <a:pt x="17527" y="1101704"/>
                  </a:lnTo>
                  <a:cubicBezTo>
                    <a:pt x="7847" y="1101704"/>
                    <a:pt x="0" y="1093857"/>
                    <a:pt x="0" y="1084177"/>
                  </a:cubicBezTo>
                  <a:lnTo>
                    <a:pt x="0" y="17527"/>
                  </a:lnTo>
                  <a:cubicBezTo>
                    <a:pt x="0" y="7847"/>
                    <a:pt x="7847" y="0"/>
                    <a:pt x="17527" y="0"/>
                  </a:cubicBezTo>
                  <a:close/>
                </a:path>
              </a:pathLst>
            </a:custGeom>
            <a:blipFill>
              <a:blip r:embed="rId8"/>
              <a:stretch>
                <a:fillRect l="-29590" t="0" r="-2959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5076825"/>
            <a:ext cx="10962101" cy="3722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1174" indent="-390587" lvl="1">
              <a:lnSpc>
                <a:spcPts val="5065"/>
              </a:lnSpc>
              <a:buFont typeface="Arial"/>
              <a:buChar char="•"/>
            </a:pPr>
            <a:r>
              <a:rPr lang="en-US" sz="3618" spc="11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HTML: struktur halaman web</a:t>
            </a:r>
          </a:p>
          <a:p>
            <a:pPr algn="just" marL="781174" indent="-390587" lvl="1">
              <a:lnSpc>
                <a:spcPts val="5065"/>
              </a:lnSpc>
              <a:buFont typeface="Arial"/>
              <a:buChar char="•"/>
            </a:pPr>
            <a:r>
              <a:rPr lang="en-US" sz="3618" spc="11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CSS: tampilan visual (warna, layout, font)</a:t>
            </a:r>
          </a:p>
          <a:p>
            <a:pPr algn="just" marL="781174" indent="-390587" lvl="1">
              <a:lnSpc>
                <a:spcPts val="5065"/>
              </a:lnSpc>
              <a:buFont typeface="Arial"/>
              <a:buChar char="•"/>
            </a:pPr>
            <a:r>
              <a:rPr lang="en-US" sz="3618" spc="11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JavaScript: validasi input sebelum dikirim</a:t>
            </a:r>
          </a:p>
          <a:p>
            <a:pPr algn="just" marL="781174" indent="-390587" lvl="1">
              <a:lnSpc>
                <a:spcPts val="5065"/>
              </a:lnSpc>
              <a:buFont typeface="Arial"/>
              <a:buChar char="•"/>
            </a:pPr>
            <a:r>
              <a:rPr lang="en-US" sz="3618" spc="11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PHP: proses login, simpan data, alur logika</a:t>
            </a:r>
          </a:p>
          <a:p>
            <a:pPr algn="just" marL="781174" indent="-390587" lvl="1">
              <a:lnSpc>
                <a:spcPts val="5065"/>
              </a:lnSpc>
              <a:buFont typeface="Arial"/>
              <a:buChar char="•"/>
            </a:pPr>
            <a:r>
              <a:rPr lang="en-US" sz="3618" spc="11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.txt file: menyimpan pesan (tanpa database)</a:t>
            </a:r>
          </a:p>
          <a:p>
            <a:pPr algn="just">
              <a:lnSpc>
                <a:spcPts val="5065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868336" y="-226668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5978" y="4386223"/>
            <a:ext cx="6530057" cy="432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45"/>
              </a:lnSpc>
            </a:pPr>
            <a:r>
              <a:rPr lang="en-US" b="true" sz="3041" spc="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TEKNOLOGI YANG DIGUNAKAN</a:t>
            </a:r>
          </a:p>
        </p:txBody>
      </p:sp>
      <p:sp>
        <p:nvSpPr>
          <p:cNvPr name="AutoShape 15" id="15"/>
          <p:cNvSpPr/>
          <p:nvPr/>
        </p:nvSpPr>
        <p:spPr>
          <a:xfrm>
            <a:off x="-1606026" y="4945154"/>
            <a:ext cx="8280797" cy="9525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572531" y="8698331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267011" y="3175844"/>
            <a:ext cx="8395896" cy="7111156"/>
            <a:chOff x="0" y="0"/>
            <a:chExt cx="1300744" cy="11017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00744" cy="1101704"/>
            </a:xfrm>
            <a:custGeom>
              <a:avLst/>
              <a:gdLst/>
              <a:ahLst/>
              <a:cxnLst/>
              <a:rect r="r" b="b" t="t" l="l"/>
              <a:pathLst>
                <a:path h="1101704" w="1300744">
                  <a:moveTo>
                    <a:pt x="16598" y="0"/>
                  </a:moveTo>
                  <a:lnTo>
                    <a:pt x="1284146" y="0"/>
                  </a:lnTo>
                  <a:cubicBezTo>
                    <a:pt x="1288548" y="0"/>
                    <a:pt x="1292770" y="1749"/>
                    <a:pt x="1295883" y="4861"/>
                  </a:cubicBezTo>
                  <a:cubicBezTo>
                    <a:pt x="1298995" y="7974"/>
                    <a:pt x="1300744" y="12196"/>
                    <a:pt x="1300744" y="16598"/>
                  </a:cubicBezTo>
                  <a:lnTo>
                    <a:pt x="1300744" y="1085106"/>
                  </a:lnTo>
                  <a:cubicBezTo>
                    <a:pt x="1300744" y="1094273"/>
                    <a:pt x="1293313" y="1101704"/>
                    <a:pt x="1284146" y="1101704"/>
                  </a:cubicBezTo>
                  <a:lnTo>
                    <a:pt x="16598" y="1101704"/>
                  </a:lnTo>
                  <a:cubicBezTo>
                    <a:pt x="7431" y="1101704"/>
                    <a:pt x="0" y="1094273"/>
                    <a:pt x="0" y="1085106"/>
                  </a:cubicBezTo>
                  <a:lnTo>
                    <a:pt x="0" y="16598"/>
                  </a:lnTo>
                  <a:cubicBezTo>
                    <a:pt x="0" y="7431"/>
                    <a:pt x="7431" y="0"/>
                    <a:pt x="16598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-49577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47124" y="1117572"/>
            <a:ext cx="11793751" cy="5542645"/>
          </a:xfrm>
          <a:custGeom>
            <a:avLst/>
            <a:gdLst/>
            <a:ahLst/>
            <a:cxnLst/>
            <a:rect r="r" b="b" t="t" l="l"/>
            <a:pathLst>
              <a:path h="5542645" w="11793751">
                <a:moveTo>
                  <a:pt x="0" y="0"/>
                </a:moveTo>
                <a:lnTo>
                  <a:pt x="11793752" y="0"/>
                </a:lnTo>
                <a:lnTo>
                  <a:pt x="11793752" y="5542644"/>
                </a:lnTo>
                <a:lnTo>
                  <a:pt x="0" y="554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03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4013" y="6930766"/>
            <a:ext cx="5741000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Tampilan Login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47348" y="6993591"/>
            <a:ext cx="10887688" cy="343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0761" indent="-360380" lvl="1">
              <a:lnSpc>
                <a:spcPts val="4673"/>
              </a:lnSpc>
              <a:buFont typeface="Arial"/>
              <a:buChar char="•"/>
            </a:pPr>
            <a:r>
              <a:rPr lang="en-US" sz="3338" spc="11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Form input email (bima@login.com) dan password (12345)</a:t>
            </a:r>
          </a:p>
          <a:p>
            <a:pPr algn="just" marL="720761" indent="-360380" lvl="1">
              <a:lnSpc>
                <a:spcPts val="4673"/>
              </a:lnSpc>
              <a:buFont typeface="Arial"/>
              <a:buChar char="•"/>
            </a:pPr>
            <a:r>
              <a:rPr lang="en-US" sz="3338" spc="11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Tombol login</a:t>
            </a:r>
          </a:p>
          <a:p>
            <a:pPr algn="just" marL="720761" indent="-360380" lvl="1">
              <a:lnSpc>
                <a:spcPts val="4673"/>
              </a:lnSpc>
              <a:buFont typeface="Arial"/>
              <a:buChar char="•"/>
            </a:pPr>
            <a:r>
              <a:rPr lang="en-US" sz="3338" spc="11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Validasi dengan JavaScript (validate.js)</a:t>
            </a:r>
          </a:p>
          <a:p>
            <a:pPr algn="just" marL="720761" indent="-360380" lvl="1">
              <a:lnSpc>
                <a:spcPts val="4673"/>
              </a:lnSpc>
              <a:buFont typeface="Arial"/>
              <a:buChar char="•"/>
            </a:pPr>
            <a:r>
              <a:rPr lang="en-US" sz="3338" spc="11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Pengguna diarahkan ke profil jika login berhasil</a:t>
            </a:r>
          </a:p>
          <a:p>
            <a:pPr algn="just">
              <a:lnSpc>
                <a:spcPts val="467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1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5612" y="2113537"/>
            <a:ext cx="11301259" cy="5410478"/>
          </a:xfrm>
          <a:custGeom>
            <a:avLst/>
            <a:gdLst/>
            <a:ahLst/>
            <a:cxnLst/>
            <a:rect r="r" b="b" t="t" l="l"/>
            <a:pathLst>
              <a:path h="5410478" w="11301259">
                <a:moveTo>
                  <a:pt x="0" y="0"/>
                </a:moveTo>
                <a:lnTo>
                  <a:pt x="11301259" y="0"/>
                </a:lnTo>
                <a:lnTo>
                  <a:pt x="11301259" y="5410477"/>
                </a:lnTo>
                <a:lnTo>
                  <a:pt x="0" y="54104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89900" y="1500506"/>
            <a:ext cx="3865772" cy="195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Halaman Profil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27782" y="3639206"/>
            <a:ext cx="5607702" cy="545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5"/>
              </a:lnSpc>
            </a:pPr>
            <a:r>
              <a:rPr lang="en-US" sz="2875" spc="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Menampilkan:</a:t>
            </a:r>
          </a:p>
          <a:p>
            <a:pPr algn="just" marL="620777" indent="-310389" lvl="1">
              <a:lnSpc>
                <a:spcPts val="4025"/>
              </a:lnSpc>
              <a:buFont typeface="Arial"/>
              <a:buChar char="•"/>
            </a:pPr>
            <a:r>
              <a:rPr lang="en-US" sz="2875" spc="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Foto</a:t>
            </a:r>
          </a:p>
          <a:p>
            <a:pPr algn="just" marL="620777" indent="-310389" lvl="1">
              <a:lnSpc>
                <a:spcPts val="4025"/>
              </a:lnSpc>
              <a:buFont typeface="Arial"/>
              <a:buChar char="•"/>
            </a:pPr>
            <a:r>
              <a:rPr lang="en-US" sz="2875" spc="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Nama lengkap</a:t>
            </a:r>
          </a:p>
          <a:p>
            <a:pPr algn="just" marL="620777" indent="-310389" lvl="1">
              <a:lnSpc>
                <a:spcPts val="4025"/>
              </a:lnSpc>
              <a:buFont typeface="Arial"/>
              <a:buChar char="•"/>
            </a:pPr>
            <a:r>
              <a:rPr lang="en-US" sz="2875" spc="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TTL, alamat, agama, status</a:t>
            </a:r>
          </a:p>
          <a:p>
            <a:pPr algn="just" marL="620777" indent="-310389" lvl="1">
              <a:lnSpc>
                <a:spcPts val="4025"/>
              </a:lnSpc>
              <a:buFont typeface="Arial"/>
              <a:buChar char="•"/>
            </a:pPr>
            <a:r>
              <a:rPr lang="en-US" sz="2875" spc="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Deskripsi diri</a:t>
            </a:r>
          </a:p>
          <a:p>
            <a:pPr algn="just" marL="620777" indent="-310389" lvl="1">
              <a:lnSpc>
                <a:spcPts val="4025"/>
              </a:lnSpc>
              <a:buFont typeface="Arial"/>
              <a:buChar char="•"/>
            </a:pPr>
            <a:r>
              <a:rPr lang="en-US" sz="2875" spc="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Sidebar navigasi ke riwayat pendidikan &amp; logout</a:t>
            </a:r>
          </a:p>
          <a:p>
            <a:pPr algn="just" marL="620777" indent="-310389" lvl="1">
              <a:lnSpc>
                <a:spcPts val="4025"/>
              </a:lnSpc>
              <a:buFont typeface="Arial"/>
              <a:buChar char="•"/>
            </a:pPr>
            <a:r>
              <a:rPr lang="en-US" sz="2875" spc="9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Form kirim pesan di bawah profil</a:t>
            </a:r>
          </a:p>
          <a:p>
            <a:pPr algn="just">
              <a:lnSpc>
                <a:spcPts val="402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221" y="9024815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3" y="0"/>
                </a:lnTo>
                <a:lnTo>
                  <a:pt x="407673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93371" y="2113537"/>
            <a:ext cx="11301259" cy="5410478"/>
          </a:xfrm>
          <a:custGeom>
            <a:avLst/>
            <a:gdLst/>
            <a:ahLst/>
            <a:cxnLst/>
            <a:rect r="r" b="b" t="t" l="l"/>
            <a:pathLst>
              <a:path h="5410478" w="11301259">
                <a:moveTo>
                  <a:pt x="0" y="0"/>
                </a:moveTo>
                <a:lnTo>
                  <a:pt x="11301258" y="0"/>
                </a:lnTo>
                <a:lnTo>
                  <a:pt x="11301258" y="5410477"/>
                </a:lnTo>
                <a:lnTo>
                  <a:pt x="0" y="54104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13582" y="898696"/>
            <a:ext cx="8460836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Riwayat Pendidikan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35297" y="7693976"/>
            <a:ext cx="9217407" cy="283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4190" indent="-297095" lvl="1">
              <a:lnSpc>
                <a:spcPts val="3853"/>
              </a:lnSpc>
              <a:buFont typeface="Arial"/>
              <a:buChar char="•"/>
            </a:pPr>
            <a:r>
              <a:rPr lang="en-US" sz="2752" spc="9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Berisi daftar sekolah dari SD hingga kuliah</a:t>
            </a:r>
          </a:p>
          <a:p>
            <a:pPr algn="just" marL="594190" indent="-297095" lvl="1">
              <a:lnSpc>
                <a:spcPts val="3853"/>
              </a:lnSpc>
              <a:buFont typeface="Arial"/>
              <a:buChar char="•"/>
            </a:pPr>
            <a:r>
              <a:rPr lang="en-US" sz="2752" spc="9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Ditampilkan dalam bentuk list bergaya modern</a:t>
            </a:r>
          </a:p>
          <a:p>
            <a:pPr algn="just" marL="594190" indent="-297095" lvl="1">
              <a:lnSpc>
                <a:spcPts val="3853"/>
              </a:lnSpc>
              <a:buFont typeface="Arial"/>
              <a:buChar char="•"/>
            </a:pPr>
            <a:r>
              <a:rPr lang="en-US" sz="2752" spc="9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Ada bagian tambahan untuk prestasi &amp; pengalaman</a:t>
            </a:r>
          </a:p>
          <a:p>
            <a:pPr algn="just" marL="594190" indent="-297095" lvl="1">
              <a:lnSpc>
                <a:spcPts val="3853"/>
              </a:lnSpc>
              <a:buFont typeface="Arial"/>
              <a:buChar char="•"/>
            </a:pPr>
            <a:r>
              <a:rPr lang="en-US" sz="2752" spc="9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Tampilan bersih dan rapi, mudah dibaca</a:t>
            </a:r>
          </a:p>
          <a:p>
            <a:pPr algn="just">
              <a:lnSpc>
                <a:spcPts val="385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05140" y="2381437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60462" y="4669636"/>
            <a:ext cx="9144000" cy="4387829"/>
          </a:xfrm>
          <a:custGeom>
            <a:avLst/>
            <a:gdLst/>
            <a:ahLst/>
            <a:cxnLst/>
            <a:rect r="r" b="b" t="t" l="l"/>
            <a:pathLst>
              <a:path h="4387829" w="9144000">
                <a:moveTo>
                  <a:pt x="0" y="0"/>
                </a:moveTo>
                <a:lnTo>
                  <a:pt x="9144000" y="0"/>
                </a:lnTo>
                <a:lnTo>
                  <a:pt x="9144000" y="4387830"/>
                </a:lnTo>
                <a:lnTo>
                  <a:pt x="0" y="4387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1474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19612" y="2974246"/>
            <a:ext cx="5825699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Form Pesan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86708" y="5076825"/>
            <a:ext cx="7272592" cy="3805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2339" indent="-341169" lvl="1">
              <a:lnSpc>
                <a:spcPts val="4424"/>
              </a:lnSpc>
              <a:buFont typeface="Arial"/>
              <a:buChar char="•"/>
            </a:pPr>
            <a:r>
              <a:rPr lang="en-US" sz="3160" spc="10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Pengguna bisa isi nama, email, dan pesan</a:t>
            </a:r>
          </a:p>
          <a:p>
            <a:pPr algn="just" marL="682339" indent="-341169" lvl="1">
              <a:lnSpc>
                <a:spcPts val="4424"/>
              </a:lnSpc>
              <a:buFont typeface="Arial"/>
              <a:buChar char="•"/>
            </a:pPr>
            <a:r>
              <a:rPr lang="en-US" sz="3160" spc="10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Data dikirim ke proses_pesan.php</a:t>
            </a:r>
          </a:p>
          <a:p>
            <a:pPr algn="just" marL="682339" indent="-341169" lvl="1">
              <a:lnSpc>
                <a:spcPts val="4424"/>
              </a:lnSpc>
              <a:buFont typeface="Arial"/>
              <a:buChar char="•"/>
            </a:pPr>
            <a:r>
              <a:rPr lang="en-US" sz="3160" spc="10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Pesan disimpan ke pesan.txt</a:t>
            </a:r>
          </a:p>
          <a:p>
            <a:pPr algn="just" marL="682339" indent="-341169" lvl="1">
              <a:lnSpc>
                <a:spcPts val="4424"/>
              </a:lnSpc>
              <a:buFont typeface="Arial"/>
              <a:buChar char="•"/>
            </a:pPr>
            <a:r>
              <a:rPr lang="en-US" sz="3160" spc="10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Muncul notifikasi: “Pesan berhasil dikirim”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05140" y="2381437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69327" y="2033991"/>
            <a:ext cx="9749346" cy="7810249"/>
          </a:xfrm>
          <a:custGeom>
            <a:avLst/>
            <a:gdLst/>
            <a:ahLst/>
            <a:cxnLst/>
            <a:rect r="r" b="b" t="t" l="l"/>
            <a:pathLst>
              <a:path h="7810249" w="9749346">
                <a:moveTo>
                  <a:pt x="0" y="0"/>
                </a:moveTo>
                <a:lnTo>
                  <a:pt x="9749346" y="0"/>
                </a:lnTo>
                <a:lnTo>
                  <a:pt x="9749346" y="7810249"/>
                </a:lnTo>
                <a:lnTo>
                  <a:pt x="0" y="78102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57432" y="1047750"/>
            <a:ext cx="4373137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index.html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05140" y="2381437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57776" y="2033991"/>
            <a:ext cx="6972449" cy="7765235"/>
          </a:xfrm>
          <a:custGeom>
            <a:avLst/>
            <a:gdLst/>
            <a:ahLst/>
            <a:cxnLst/>
            <a:rect r="r" b="b" t="t" l="l"/>
            <a:pathLst>
              <a:path h="7765235" w="6972449">
                <a:moveTo>
                  <a:pt x="0" y="0"/>
                </a:moveTo>
                <a:lnTo>
                  <a:pt x="6972448" y="0"/>
                </a:lnTo>
                <a:lnTo>
                  <a:pt x="6972448" y="7765234"/>
                </a:lnTo>
                <a:lnTo>
                  <a:pt x="0" y="77652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98723" y="841849"/>
            <a:ext cx="4490555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profile.php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05140" y="2381437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46813" y="2788125"/>
            <a:ext cx="14994374" cy="6470175"/>
          </a:xfrm>
          <a:custGeom>
            <a:avLst/>
            <a:gdLst/>
            <a:ahLst/>
            <a:cxnLst/>
            <a:rect r="r" b="b" t="t" l="l"/>
            <a:pathLst>
              <a:path h="6470175" w="14994374">
                <a:moveTo>
                  <a:pt x="0" y="0"/>
                </a:moveTo>
                <a:lnTo>
                  <a:pt x="14994374" y="0"/>
                </a:lnTo>
                <a:lnTo>
                  <a:pt x="14994374" y="6470175"/>
                </a:lnTo>
                <a:lnTo>
                  <a:pt x="0" y="64701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50367" y="1511939"/>
            <a:ext cx="6987267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proses_login.php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05140" y="2381437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4626" y="2966714"/>
            <a:ext cx="16254674" cy="5786870"/>
          </a:xfrm>
          <a:custGeom>
            <a:avLst/>
            <a:gdLst/>
            <a:ahLst/>
            <a:cxnLst/>
            <a:rect r="r" b="b" t="t" l="l"/>
            <a:pathLst>
              <a:path h="5786870" w="16254674">
                <a:moveTo>
                  <a:pt x="0" y="0"/>
                </a:moveTo>
                <a:lnTo>
                  <a:pt x="16254674" y="0"/>
                </a:lnTo>
                <a:lnTo>
                  <a:pt x="16254674" y="5786870"/>
                </a:lnTo>
                <a:lnTo>
                  <a:pt x="0" y="57868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50367" y="1511939"/>
            <a:ext cx="7460169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proses_pesan.php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05140" y="2381437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05678" y="2033991"/>
            <a:ext cx="6797568" cy="8153005"/>
          </a:xfrm>
          <a:custGeom>
            <a:avLst/>
            <a:gdLst/>
            <a:ahLst/>
            <a:cxnLst/>
            <a:rect r="r" b="b" t="t" l="l"/>
            <a:pathLst>
              <a:path h="8153005" w="6797568">
                <a:moveTo>
                  <a:pt x="0" y="0"/>
                </a:moveTo>
                <a:lnTo>
                  <a:pt x="6797568" y="0"/>
                </a:lnTo>
                <a:lnTo>
                  <a:pt x="6797568" y="8153005"/>
                </a:lnTo>
                <a:lnTo>
                  <a:pt x="0" y="81530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48914" y="772954"/>
            <a:ext cx="9990171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riwayat_pendidikan.php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05140" y="2381437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21136" y="3357982"/>
            <a:ext cx="13645728" cy="4891277"/>
          </a:xfrm>
          <a:custGeom>
            <a:avLst/>
            <a:gdLst/>
            <a:ahLst/>
            <a:cxnLst/>
            <a:rect r="r" b="b" t="t" l="l"/>
            <a:pathLst>
              <a:path h="4891277" w="13645728">
                <a:moveTo>
                  <a:pt x="0" y="0"/>
                </a:moveTo>
                <a:lnTo>
                  <a:pt x="13645728" y="0"/>
                </a:lnTo>
                <a:lnTo>
                  <a:pt x="13645728" y="4891277"/>
                </a:lnTo>
                <a:lnTo>
                  <a:pt x="0" y="48912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85250" y="2014584"/>
            <a:ext cx="4117500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validate.js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070437" y="1587753"/>
            <a:ext cx="1966383" cy="6462045"/>
          </a:xfrm>
          <a:custGeom>
            <a:avLst/>
            <a:gdLst/>
            <a:ahLst/>
            <a:cxnLst/>
            <a:rect r="r" b="b" t="t" l="l"/>
            <a:pathLst>
              <a:path h="6462045" w="1966383">
                <a:moveTo>
                  <a:pt x="0" y="0"/>
                </a:moveTo>
                <a:lnTo>
                  <a:pt x="1966383" y="0"/>
                </a:lnTo>
                <a:lnTo>
                  <a:pt x="1966383" y="6462045"/>
                </a:lnTo>
                <a:lnTo>
                  <a:pt x="0" y="64620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1568" y="1028700"/>
            <a:ext cx="2918566" cy="6510084"/>
          </a:xfrm>
          <a:custGeom>
            <a:avLst/>
            <a:gdLst/>
            <a:ahLst/>
            <a:cxnLst/>
            <a:rect r="r" b="b" t="t" l="l"/>
            <a:pathLst>
              <a:path h="6510084" w="2918566">
                <a:moveTo>
                  <a:pt x="0" y="0"/>
                </a:moveTo>
                <a:lnTo>
                  <a:pt x="2918566" y="0"/>
                </a:lnTo>
                <a:lnTo>
                  <a:pt x="2918566" y="6510084"/>
                </a:lnTo>
                <a:lnTo>
                  <a:pt x="0" y="65100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71777" y="2728823"/>
            <a:ext cx="2932685" cy="6400700"/>
          </a:xfrm>
          <a:custGeom>
            <a:avLst/>
            <a:gdLst/>
            <a:ahLst/>
            <a:cxnLst/>
            <a:rect r="r" b="b" t="t" l="l"/>
            <a:pathLst>
              <a:path h="6400700" w="2932685">
                <a:moveTo>
                  <a:pt x="0" y="0"/>
                </a:moveTo>
                <a:lnTo>
                  <a:pt x="2932685" y="0"/>
                </a:lnTo>
                <a:lnTo>
                  <a:pt x="2932685" y="6400701"/>
                </a:lnTo>
                <a:lnTo>
                  <a:pt x="0" y="64007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03672" y="1987649"/>
            <a:ext cx="6293914" cy="74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26"/>
              </a:lnSpc>
            </a:pPr>
            <a:r>
              <a:rPr lang="en-US" b="true" sz="5022" spc="-236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Desain &amp; Responsif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269" y="3186426"/>
            <a:ext cx="7713214" cy="321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8397" indent="-289199" lvl="1">
              <a:lnSpc>
                <a:spcPts val="3750"/>
              </a:lnSpc>
              <a:buFont typeface="Arial"/>
              <a:buChar char="•"/>
            </a:pPr>
            <a:r>
              <a:rPr lang="en-US" sz="2679" spc="88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Layout fleksibel dengan CSS Flexbox</a:t>
            </a:r>
          </a:p>
          <a:p>
            <a:pPr algn="just" marL="578397" indent="-289199" lvl="1">
              <a:lnSpc>
                <a:spcPts val="3750"/>
              </a:lnSpc>
              <a:buFont typeface="Arial"/>
              <a:buChar char="•"/>
            </a:pPr>
            <a:r>
              <a:rPr lang="en-US" sz="2679" spc="88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Warna utama biru dan putih</a:t>
            </a:r>
          </a:p>
          <a:p>
            <a:pPr algn="just" marL="578397" indent="-289199" lvl="1">
              <a:lnSpc>
                <a:spcPts val="3750"/>
              </a:lnSpc>
              <a:buFont typeface="Arial"/>
              <a:buChar char="•"/>
            </a:pPr>
            <a:r>
              <a:rPr lang="en-US" sz="2679" spc="88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Tampilan otomatis menyesuaikan untuk HP, tablet, desktop</a:t>
            </a:r>
          </a:p>
          <a:p>
            <a:pPr algn="just" marL="578397" indent="-289199" lvl="1">
              <a:lnSpc>
                <a:spcPts val="3750"/>
              </a:lnSpc>
              <a:buFont typeface="Arial"/>
              <a:buChar char="•"/>
            </a:pPr>
            <a:r>
              <a:rPr lang="en-US" sz="2679" spc="88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Form &amp; konten dirapikan agar mudah diakses</a:t>
            </a:r>
          </a:p>
          <a:p>
            <a:pPr algn="just">
              <a:lnSpc>
                <a:spcPts val="375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05140" y="2381437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2" y="0"/>
                </a:lnTo>
                <a:lnTo>
                  <a:pt x="407672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759" y="5393310"/>
            <a:ext cx="9069241" cy="4058157"/>
          </a:xfrm>
          <a:custGeom>
            <a:avLst/>
            <a:gdLst/>
            <a:ahLst/>
            <a:cxnLst/>
            <a:rect r="r" b="b" t="t" l="l"/>
            <a:pathLst>
              <a:path h="4058157" w="9069241">
                <a:moveTo>
                  <a:pt x="0" y="0"/>
                </a:moveTo>
                <a:lnTo>
                  <a:pt x="9069241" y="0"/>
                </a:lnTo>
                <a:lnTo>
                  <a:pt x="9069241" y="4058157"/>
                </a:lnTo>
                <a:lnTo>
                  <a:pt x="0" y="40581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5393310"/>
            <a:ext cx="9081585" cy="3587513"/>
          </a:xfrm>
          <a:custGeom>
            <a:avLst/>
            <a:gdLst/>
            <a:ahLst/>
            <a:cxnLst/>
            <a:rect r="r" b="b" t="t" l="l"/>
            <a:pathLst>
              <a:path h="3587513" w="9081585">
                <a:moveTo>
                  <a:pt x="0" y="0"/>
                </a:moveTo>
                <a:lnTo>
                  <a:pt x="9081585" y="0"/>
                </a:lnTo>
                <a:lnTo>
                  <a:pt x="9081585" y="3587513"/>
                </a:lnTo>
                <a:lnTo>
                  <a:pt x="0" y="35875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02" t="0" r="-993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2151" y="1047120"/>
            <a:ext cx="6664550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Validasi &amp; Login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7961" y="2309586"/>
            <a:ext cx="8287677" cy="3296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2153" indent="-346076" lvl="1">
              <a:lnSpc>
                <a:spcPts val="4488"/>
              </a:lnSpc>
              <a:buFont typeface="Arial"/>
              <a:buChar char="•"/>
            </a:pPr>
            <a:r>
              <a:rPr lang="en-US" sz="3205" spc="10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Cek email &amp; password tidak kosong</a:t>
            </a:r>
          </a:p>
          <a:p>
            <a:pPr algn="just" marL="692153" indent="-346076" lvl="1">
              <a:lnSpc>
                <a:spcPts val="4488"/>
              </a:lnSpc>
              <a:buFont typeface="Arial"/>
              <a:buChar char="•"/>
            </a:pPr>
            <a:r>
              <a:rPr lang="en-US" sz="3205" spc="10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Jika salah, muncul pesan alert</a:t>
            </a:r>
          </a:p>
          <a:p>
            <a:pPr algn="just" marL="692153" indent="-346076" lvl="1">
              <a:lnSpc>
                <a:spcPts val="4488"/>
              </a:lnSpc>
              <a:buFont typeface="Arial"/>
              <a:buChar char="•"/>
            </a:pPr>
            <a:r>
              <a:rPr lang="en-US" sz="3205" spc="10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Jika benar, redirect ke profil</a:t>
            </a:r>
          </a:p>
          <a:p>
            <a:pPr algn="just" marL="692153" indent="-346076" lvl="1">
              <a:lnSpc>
                <a:spcPts val="4488"/>
              </a:lnSpc>
              <a:buFont typeface="Arial"/>
              <a:buChar char="•"/>
            </a:pPr>
            <a:r>
              <a:rPr lang="en-US" sz="3205" spc="10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Sistem login sederhana namun aman untuk proyek awal</a:t>
            </a:r>
          </a:p>
          <a:p>
            <a:pPr algn="just">
              <a:lnSpc>
                <a:spcPts val="4488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285923" y="9460992"/>
            <a:ext cx="3165727" cy="45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8"/>
              </a:lnSpc>
            </a:pPr>
            <a:r>
              <a:rPr lang="en-US" sz="3041" spc="-14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proses_login.php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91511" y="9060835"/>
            <a:ext cx="1684512" cy="404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0"/>
              </a:lnSpc>
            </a:pPr>
            <a:r>
              <a:rPr lang="en-US" sz="2741" spc="-12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validate.js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221" y="9024815"/>
            <a:ext cx="407672" cy="233485"/>
          </a:xfrm>
          <a:custGeom>
            <a:avLst/>
            <a:gdLst/>
            <a:ahLst/>
            <a:cxnLst/>
            <a:rect r="r" b="b" t="t" l="l"/>
            <a:pathLst>
              <a:path h="233485" w="407672">
                <a:moveTo>
                  <a:pt x="0" y="0"/>
                </a:moveTo>
                <a:lnTo>
                  <a:pt x="407673" y="0"/>
                </a:lnTo>
                <a:lnTo>
                  <a:pt x="407673" y="233485"/>
                </a:lnTo>
                <a:lnTo>
                  <a:pt x="0" y="2334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Others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99860" y="2014701"/>
            <a:ext cx="9209204" cy="98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704"/>
              </a:lnSpc>
            </a:pPr>
            <a:r>
              <a:rPr lang="en-US" b="true" sz="6641" spc="-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Kesimpulan &amp; Manfaat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58341" y="3554291"/>
            <a:ext cx="13292242" cy="4771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56870" indent="-428435" lvl="1">
              <a:lnSpc>
                <a:spcPts val="5556"/>
              </a:lnSpc>
              <a:buFont typeface="Arial"/>
              <a:buChar char="•"/>
            </a:pPr>
            <a:r>
              <a:rPr lang="en-US" sz="3968" spc="13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Website ini cocok untuk portofolio pribadi</a:t>
            </a:r>
          </a:p>
          <a:p>
            <a:pPr algn="just" marL="856870" indent="-428435" lvl="1">
              <a:lnSpc>
                <a:spcPts val="5556"/>
              </a:lnSpc>
              <a:buFont typeface="Arial"/>
              <a:buChar char="•"/>
            </a:pPr>
            <a:r>
              <a:rPr lang="en-US" sz="3968" spc="13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Menunjukkan kemampuan membuat sistem login</a:t>
            </a:r>
          </a:p>
          <a:p>
            <a:pPr algn="just" marL="856870" indent="-428435" lvl="1">
              <a:lnSpc>
                <a:spcPts val="5556"/>
              </a:lnSpc>
              <a:buFont typeface="Arial"/>
              <a:buChar char="•"/>
            </a:pPr>
            <a:r>
              <a:rPr lang="en-US" sz="3968" spc="13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Menampilkan data dengan struktur rapi &amp; desain menarik</a:t>
            </a:r>
          </a:p>
          <a:p>
            <a:pPr algn="just" marL="856870" indent="-428435" lvl="1">
              <a:lnSpc>
                <a:spcPts val="5556"/>
              </a:lnSpc>
              <a:buFont typeface="Arial"/>
              <a:buChar char="•"/>
            </a:pPr>
            <a:r>
              <a:rPr lang="en-US" sz="3968" spc="130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Bisa dikembangkan dengan database ke depannya</a:t>
            </a:r>
          </a:p>
          <a:p>
            <a:pPr algn="just">
              <a:lnSpc>
                <a:spcPts val="5556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82967" y="400502"/>
            <a:ext cx="1305033" cy="333097"/>
            <a:chOff x="0" y="0"/>
            <a:chExt cx="343712" cy="877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3712" cy="87729"/>
            </a:xfrm>
            <a:custGeom>
              <a:avLst/>
              <a:gdLst/>
              <a:ahLst/>
              <a:cxnLst/>
              <a:rect r="r" b="b" t="t" l="l"/>
              <a:pathLst>
                <a:path h="87729" w="343712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true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5603" y="420807"/>
            <a:ext cx="333097" cy="333097"/>
          </a:xfrm>
          <a:custGeom>
            <a:avLst/>
            <a:gdLst/>
            <a:ahLst/>
            <a:cxnLst/>
            <a:rect r="r" b="b" t="t" l="l"/>
            <a:pathLst>
              <a:path h="333097" w="333097">
                <a:moveTo>
                  <a:pt x="0" y="0"/>
                </a:moveTo>
                <a:lnTo>
                  <a:pt x="333097" y="0"/>
                </a:lnTo>
                <a:lnTo>
                  <a:pt x="333097" y="333097"/>
                </a:lnTo>
                <a:lnTo>
                  <a:pt x="0" y="333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6785" y="412429"/>
            <a:ext cx="2753652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Thynk Unlimited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7607709" y="-1481982"/>
            <a:ext cx="14774614" cy="12601514"/>
          </a:xfrm>
          <a:custGeom>
            <a:avLst/>
            <a:gdLst/>
            <a:ahLst/>
            <a:cxnLst/>
            <a:rect r="r" b="b" t="t" l="l"/>
            <a:pathLst>
              <a:path h="12601514" w="14774614">
                <a:moveTo>
                  <a:pt x="0" y="0"/>
                </a:moveTo>
                <a:lnTo>
                  <a:pt x="14774614" y="0"/>
                </a:lnTo>
                <a:lnTo>
                  <a:pt x="14774614" y="12601514"/>
                </a:lnTo>
                <a:lnTo>
                  <a:pt x="0" y="12601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604462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47986" y="432733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91511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sz="1700" spc="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Content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35036" y="412429"/>
            <a:ext cx="166255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0"/>
              </a:lnSpc>
              <a:spcBef>
                <a:spcPct val="0"/>
              </a:spcBef>
            </a:pPr>
            <a:r>
              <a:rPr lang="en-US" b="true" sz="1700" spc="3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Others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386026" y="6423577"/>
            <a:ext cx="13746548" cy="8229600"/>
          </a:xfrm>
          <a:custGeom>
            <a:avLst/>
            <a:gdLst/>
            <a:ahLst/>
            <a:cxnLst/>
            <a:rect r="r" b="b" t="t" l="l"/>
            <a:pathLst>
              <a:path h="8229600" w="13746548">
                <a:moveTo>
                  <a:pt x="0" y="0"/>
                </a:moveTo>
                <a:lnTo>
                  <a:pt x="13746548" y="0"/>
                </a:lnTo>
                <a:lnTo>
                  <a:pt x="137465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83981" y="4007878"/>
            <a:ext cx="15120037" cy="220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14"/>
              </a:lnSpc>
              <a:spcBef>
                <a:spcPct val="0"/>
              </a:spcBef>
            </a:pPr>
            <a:r>
              <a:rPr lang="en-US" b="true" sz="12867" spc="29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3981" y="4895850"/>
            <a:ext cx="15120037" cy="220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14"/>
              </a:lnSpc>
              <a:spcBef>
                <a:spcPct val="0"/>
              </a:spcBef>
            </a:pPr>
            <a:r>
              <a:rPr lang="en-US" b="true" sz="12867" spc="29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3981" y="3267743"/>
            <a:ext cx="15120037" cy="220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014"/>
              </a:lnSpc>
              <a:spcBef>
                <a:spcPct val="0"/>
              </a:spcBef>
            </a:pPr>
            <a:r>
              <a:rPr lang="en-US" b="true" sz="12867" spc="29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52776" y="9220200"/>
            <a:ext cx="578244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DAGtg7SjdT4</dc:identifier>
  <dcterms:modified xsi:type="dcterms:W3CDTF">2011-08-01T06:04:30Z</dcterms:modified>
  <cp:revision>1</cp:revision>
  <dc:title>Dark Blue and White Modern Gradient Programming Presentation</dc:title>
</cp:coreProperties>
</file>